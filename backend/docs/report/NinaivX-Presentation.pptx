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[morning/afternoon]. I'm Ashwin. NinaivX is my own self-proposed MSc project — I chose this problem because it has real human impact: helping with loneliness and grief, while tackling the safety risks that today's 'AI of the dead' products ignore. I'll give a short overview, then show you the live app, and finish with my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proposed this myself because it matters. Loneliness and grief are huge; companies already sell chatbots of the dead — but they're built on models that make things up, with no safeguards, no transparency and no evaluation. Inventing a memory a real person never had can distort how a griever remembers them. So my two questions: RQ1 — can I cut hallucination without hurting quality? RQ2 — can one system safely run two very different personas?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core idea in one picture. One backend, two personas. A simple deterministic rule — not another AI — routes each message, so the safety-critical decision can't be manipulated. The Legacy node literally has no internet tools attached, so hallucination from live data is impossible by construction. On top of that: temporal grounding, transparency, and data isolation.</a:t>
            </a:r>
          </a:p>
          <a:p/>
          <a:p>
            <a:r>
              <a:t>*** NOW SWITCH TO THE LIVE DEMO ***  Show: create a persona (name, story, pick/clone a voice), then a text chat, then a voice call. Best bit to show: ask a Legacy persona about a very recent event — it says it wasn't around for that and refuses to invent it. That's the safety design working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evaluated it two ways. On the left is my user study — 21 real participants, ethics-approved, remote and anonymous. The chart shows their ratings: an overall 4.6 out of 5, everyone found it easy to use and comfortable, and 90% trusted it not to make things up. The honest weak spot they flagged was voice naturalness. On the right is the controlled hallucination test: same AI model, changing only my grounding versus an unconstrained baseline — hallucination dropped from 83% to 28% overall, and hallucination about events after death fell from 100% to essentially zero. Together these answer both research questions: real users rate it highly, and I measured that it genuinely reduces hallucination.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conclude: NinaivX shows a griefbot can be generative but also grounded, transparent, open, and — unusually — actually evaluated. My contributions are the air-gap guarantee, temporal grounding, and publishing an evaluation of the safety design. Both research questions are answered. Future work is better voice, retrieval-based grounding, streaming voice and an avatar. Thank you — I'm happy to take questions.</a:t>
            </a:r>
          </a:p>
          <a:p/>
          <a:p>
            <a:r>
              <a:t>VIVA QUICK FACTS: Claude Sonnet on AWS Bedrock (EU); FastAPI+LangGraph, Supabase, ElevenLabs, React Native/Expo. Air-gap = deceased node binds no tools (code-level). Hallucination 83-&gt;28%, post-death 100-&gt;~0%. Study n=21, 4.6/5. Deterministic router so routing can't be manipulated. Ethics ref 076699. Main limitation: personal-fact confabulation -&gt; fix with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54864"/>
          </a:xfrm>
          <a:prstGeom prst="rect">
            <a:avLst/>
          </a:prstGeom>
          <a:solidFill>
            <a:srgbClr val="6FB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3200400" cy="502920"/>
          </a:xfrm>
          <a:prstGeom prst="roundRect">
            <a:avLst/>
          </a:prstGeom>
          <a:solidFill>
            <a:srgbClr val="1F5754"/>
          </a:solidFill>
          <a:ln w="19050">
            <a:solidFill>
              <a:srgbClr val="6FB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SELF-PROPOSED MSc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Segoe UI"/>
              </a:rPr>
              <a:t>NinaivX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00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D7ECEA"/>
                </a:solidFill>
                <a:latin typeface="Segoe UI"/>
              </a:rPr>
              <a:t>A Privacy-First, Dual-Mode Voice AI for Bereavement Support &amp; Companionship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257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Ashwin Kumar Ramesh Kumar</a:t>
            </a:r>
          </a:p>
          <a:p>
            <a:r>
              <a:rPr sz="1300" b="0" i="0">
                <a:solidFill>
                  <a:srgbClr val="CFE6E3"/>
                </a:solidFill>
                <a:latin typeface="Segoe UI"/>
              </a:rPr>
              <a:t>MSc Artificial Intelligence  ·  University of Sheffield</a:t>
            </a:r>
          </a:p>
          <a:p>
            <a:r>
              <a:rPr sz="1300" b="0" i="0">
                <a:solidFill>
                  <a:srgbClr val="CFE6E3"/>
                </a:solidFill>
                <a:latin typeface="Segoe UI"/>
              </a:rPr>
              <a:t>Supervisor: Professor Roger K. Moore   ·   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Why this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444E57"/>
                </a:solidFill>
                <a:latin typeface="Segoe UI"/>
              </a:rPr>
              <a:t>Self-proposed — chosen for its real-world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97280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Grief and loneliness are universal — WHO links loneliness to ~871,000 deaths a year.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A commercial “digital afterlife industry” now recreates the dead as chatbots — but generative AI hallucinates.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9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444E57"/>
                </a:solidFill>
                <a:latin typeface="Segoe UI"/>
              </a:rPr>
              <a:t>Existing products are unconstrained: no anti-hallucination safeguard, no transparency, no published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977639"/>
            <a:ext cx="10972800" cy="960120"/>
          </a:xfrm>
          <a:prstGeom prst="roundRect">
            <a:avLst/>
          </a:prstGeom>
          <a:solidFill>
            <a:srgbClr val="EEF4F3"/>
          </a:solidFill>
          <a:ln w="19050">
            <a:solidFill>
              <a:srgbClr val="2A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6F6B"/>
                </a:solidFill>
                <a:latin typeface="Segoe UI"/>
              </a:rPr>
              <a:t>RQ1  </a:t>
            </a:r>
            <a:r>
              <a:rPr sz="1600" b="0" i="0">
                <a:solidFill>
                  <a:srgbClr val="444E57"/>
                </a:solidFill>
                <a:latin typeface="Segoe UI"/>
              </a:rPr>
              <a:t>Can grounding reduce hallucination while keeping conversational quality?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074920"/>
            <a:ext cx="10972800" cy="960120"/>
          </a:xfrm>
          <a:prstGeom prst="roundRect">
            <a:avLst/>
          </a:prstGeom>
          <a:solidFill>
            <a:srgbClr val="EEF4F3"/>
          </a:solidFill>
          <a:ln w="19050">
            <a:solidFill>
              <a:srgbClr val="2A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2120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6F6B"/>
                </a:solidFill>
                <a:latin typeface="Segoe UI"/>
              </a:rPr>
              <a:t>RQ2  </a:t>
            </a:r>
            <a:r>
              <a:rPr sz="1600" b="0" i="0">
                <a:solidFill>
                  <a:srgbClr val="444E57"/>
                </a:solidFill>
                <a:latin typeface="Segoe UI"/>
              </a:rPr>
              <a:t>Can one architecture safely serve both a deceased (Legacy) and a living (Companion) persona?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How it works — safety by 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gent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88895"/>
            <a:ext cx="5577840" cy="444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576072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444E57"/>
                </a:solidFill>
                <a:latin typeface="Segoe UI"/>
              </a:rPr>
              <a:t>Two personas, one backend: Legacy (air-gapped) and Companion (web-connected, 18+).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444E57"/>
                </a:solidFill>
                <a:latin typeface="Segoe UI"/>
              </a:rPr>
              <a:t>A deterministic router picks the persona — not an LLM, so it can’t be talked out of it.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444E57"/>
                </a:solidFill>
                <a:latin typeface="Segoe UI"/>
              </a:rPr>
              <a:t>Legacy node has no tools bound — reaching the internet is impossible, not just discouraged.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7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444E57"/>
                </a:solidFill>
                <a:latin typeface="Segoe UI"/>
              </a:rPr>
              <a:t>Plus temporal grounding, AI transparency, and strict per-user data isolation.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669280"/>
            <a:ext cx="5760720" cy="640080"/>
          </a:xfrm>
          <a:prstGeom prst="roundRect">
            <a:avLst/>
          </a:prstGeom>
          <a:solidFill>
            <a:srgbClr val="FEF3DF"/>
          </a:solidFill>
          <a:ln w="19050">
            <a:solidFill>
              <a:srgbClr val="C9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5577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7A1A"/>
                </a:solidFill>
                <a:latin typeface="Segoe UI"/>
              </a:rPr>
              <a:t>▶  LIVE DEMO  —  create a persona, then chat &amp; talk to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Evaluation — two studies with real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6F6B"/>
                </a:solidFill>
                <a:latin typeface="Segoe UI"/>
              </a:rPr>
              <a:t>1.  User study — 21 participants (ethics-approved)</a:t>
            </a:r>
          </a:p>
        </p:txBody>
      </p:sp>
      <p:pic>
        <p:nvPicPr>
          <p:cNvPr id="6" name="Picture 5" descr="NinaivX-Results-Lik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98" y="1783080"/>
            <a:ext cx="5405083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16636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44E57"/>
                </a:solidFill>
                <a:latin typeface="Segoe UI"/>
              </a:rPr>
              <a:t>Overall 4.6 / 5.  Everyone found it easy and comfortable; 90% trusted it not to “make things up.”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6F6B"/>
                </a:solidFill>
                <a:latin typeface="Segoe UI"/>
              </a:rPr>
              <a:t>2.  Controlled hallucination test</a:t>
            </a:r>
          </a:p>
        </p:txBody>
      </p:sp>
      <p:pic>
        <p:nvPicPr>
          <p:cNvPr id="9" name="Picture 8" descr="NinaivX-Fabr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915" y="1783080"/>
            <a:ext cx="5078730" cy="2834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4754880"/>
            <a:ext cx="2606040" cy="1234440"/>
          </a:xfrm>
          <a:prstGeom prst="roundRect">
            <a:avLst/>
          </a:prstGeom>
          <a:solidFill>
            <a:srgbClr val="EEF4F3"/>
          </a:solidFill>
          <a:ln w="19050">
            <a:solidFill>
              <a:srgbClr val="1B7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892040"/>
            <a:ext cx="2423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B7837"/>
                </a:solidFill>
                <a:latin typeface="Segoe UI"/>
              </a:rPr>
              <a:t>83% → 28%</a:t>
            </a:r>
          </a:p>
          <a:p>
            <a:pPr algn="ctr"/>
            <a:r>
              <a:rPr sz="1200" b="0" i="0">
                <a:solidFill>
                  <a:srgbClr val="444E57"/>
                </a:solidFill>
                <a:latin typeface="Segoe UI"/>
              </a:rPr>
              <a:t>overall hallucination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754880"/>
            <a:ext cx="2606040" cy="1234440"/>
          </a:xfrm>
          <a:prstGeom prst="roundRect">
            <a:avLst/>
          </a:prstGeom>
          <a:solidFill>
            <a:srgbClr val="EEF4F3"/>
          </a:solidFill>
          <a:ln w="19050">
            <a:solidFill>
              <a:srgbClr val="1B7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4892040"/>
            <a:ext cx="24231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B7837"/>
                </a:solidFill>
                <a:latin typeface="Segoe UI"/>
              </a:rPr>
              <a:t>100% → ~0%</a:t>
            </a:r>
          </a:p>
          <a:p>
            <a:pPr algn="ctr"/>
            <a:r>
              <a:rPr sz="1200" b="0" i="0">
                <a:solidFill>
                  <a:srgbClr val="444E57"/>
                </a:solidFill>
                <a:latin typeface="Segoe UI"/>
              </a:rPr>
              <a:t>post-death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6F6B"/>
                </a:solidFill>
                <a:latin typeface="Segoe U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2926080" cy="41148"/>
          </a:xfrm>
          <a:prstGeom prst="rect">
            <a:avLst/>
          </a:prstGeom>
          <a:solidFill>
            <a:srgbClr val="C9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972800" cy="47548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A dual-mode griefbot that is generative — yet grounded, transparent, open, and evaluated.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Contributions: the air-gap as a code-level guarantee; temporal grounding; an openly evaluated safety design.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Answers both questions: RQ1 ✓ hallucination down, quality kept;  RQ2 ✓ one architecture, two safe personas.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800" b="1" i="0">
                <a:solidFill>
                  <a:srgbClr val="2A6F6B"/>
                </a:solidFill>
                <a:latin typeface="Segoe UI"/>
              </a:rPr>
              <a:t>▪  </a:t>
            </a:r>
            <a:r>
              <a:rPr sz="1800" b="0" i="0">
                <a:solidFill>
                  <a:srgbClr val="444E57"/>
                </a:solidFill>
                <a:latin typeface="Segoe UI"/>
              </a:rPr>
              <a:t>Future work: better voice naturalness; RAG grounding; full-duplex streaming voice; a persona avatar.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257800"/>
            <a:ext cx="10972800" cy="914400"/>
          </a:xfrm>
          <a:prstGeom prst="roundRect">
            <a:avLst/>
          </a:prstGeom>
          <a:solidFill>
            <a:srgbClr val="2A6F6B"/>
          </a:solidFill>
          <a:ln w="19050">
            <a:solidFill>
              <a:srgbClr val="2A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25780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Thank you  — 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7A5"/>
                </a:solidFill>
                <a:latin typeface="Segoe UI"/>
              </a:rPr>
              <a:t>NinaivX  ·  Ashwin Kumar Ramesh Kumar  ·  MSc AI, University of Sheffield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A97A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