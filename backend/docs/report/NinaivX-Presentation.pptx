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[morning/afternoon]. I'm Ashwin. My project, NinaivX, is a privacy-first voice AI that lets people talk to an AI companion, or to a gentle AI recreation of a loved one who has passed away — designed to be emotionally supportive but factually safe. I'll take about 10 minutes, then I'm happy to take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big, universal problems: loneliness and grief. There's real demand — companies now sell chatbots of the dead. The danger is that large language models make things up. For an ordinary chatbot that's annoying; for one impersonating your late grandfather, inventing a memory he never had can actually distort how you remember him. That risk is what this project targets.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Existing systems sit at two extremes. Some are safe but frozen — they just replay recordings. Others are fully generative but have no published safeguards, no transparency, and no evaluation. Nobody occupies the middle: generative, but also safe, transparent, open and actually evaluated. That's the gap NinaivX fills.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aim is to build and evaluate such a system. Two research questions drive it. RQ1 is about safety versus quality — can we cut fabrication without making the conversation worse? RQ2 is architectural — can one system safely serve two very different personas? Keep these two in mind; I'll answer both with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core idea: one backend, two personas with deliberately different capabilities. The Legacy persona is sealed off from the internet and only knows what the user told it. The Companion is a normal, web-connected friend for adults. The key philosophy is 'safety by construction' — instead of asking the model nicely not to misbehave, we remove the ability entirely. That's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Here's how it works. A message comes in; a deterministic supervisor — just a branch on the persona type, not another AI — sends it one of two ways. The deceased node has literally no tools attached, so reaching the live internet is impossible, not just discouraged. The companion node does have a web-search tool it can loop through. That asymmetry is the whole safety story in one picture.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safeguards. First, the air-gap — a guarantee in code, not a promise in a prompt. Second, temporal grounding: a persona who died in 2010 doesn't know about COVID or ChatGPT. Third, transparency: it never pretends to be truly human if you sincerely ask. And fourth, the supporting layer — content rules per mode, defence against prompt injection, and strict data isolation. Point at the screenshot on the right: this is real — a legacy persona asked about a recent flood says its knowledge stopped after a point and refuses to invent details. That's temporal grounding working in the app.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app — built with React Native and Expo, so it runs on a normal phone. Walk left to right: you land here, sign up, then create a persona in a short three-step wizard — who they are, their story, and their voice, which you can pick or clone from a short recording — and finally you can talk to it and hear it reply in a voice call. Rather than a live demo, these screenshots show the whole flow end to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evaluated it two ways. First, a user study — 21 adults, ethics-approved, remote and anonymous. Results were strongly positive: an overall 4.6 out of 5, everyone comfortable and satisfied, and importantly 90% trusted it not to make things up. The one weak spot, which users told me directly, was the naturalness of the synthetic voice.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second evaluation is the one I'm most pleased with — a controlled experiment. Same AI model on both sides; the only difference was NinaivX's grounding versus an unconstrained baseline. Grounding cut the overall fabrication rate from 83% to 28%, and fabrication about events after the person's death fell from 100% to essentially zero. It doesn't fully stop invented personal facts — and that's exactly what the future retrieval work is for. This directly answers RQ1.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 both questions are answered. RQ1: yes — fabrication measurably down, quality preserved. RQ2: yes — one architecture, two safe personas, and transparency that users noticed. I'm also honest about the limitation: grounding personal facts by prompt alone isn't enough, which points straight at the next step.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Being honest about limits: the sample is small and self-selected, it measures perceptions rather than long-term wellbeing, and — by ethical necessity — I didn't test with actually bereaved people. The future work follows directly: better voice, retrieval-based grounding to fix the personal-fact gap, and a larger longitudinal study.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 conclude: NinaivX shows you can have a generative griefbot that is also grounded, transparent, open, and — unusually for this area — actually evaluated. The contributions are the air-gap guarantee, temporal grounding, and publishing an evaluation of the safety design. The bigger point: these systems don't have to be the opaque products on the market today. Thank you — I'm happy to take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VIVA QUICK FACTS: Model = Claude Sonnet on AWS Bedrock (EU region). Stack = FastAPI + LangGraph backend, Supabase auth/DB, ElevenLabs voice, React Native/Expo app. Air-gap = deceased node binds no tools (code-level). Fabrication result: 83%-&gt;28% overall, 100%-&gt;~0% post-death. User study n=21, mean 4.6/5. Why deterministic router? So the safety-critical routing can't be manipulated by a message. Ethics: Sheffield ref 076699, anonymous, adults-only, grief screening. Biggest limitation: personal-fact confabulation -&gt; fix with RAG.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74920"/>
            <a:ext cx="12191695" cy="54864"/>
          </a:xfrm>
          <a:prstGeom prst="rect">
            <a:avLst/>
          </a:prstGeom>
          <a:solidFill>
            <a:srgbClr val="6FB3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0" b="1" i="0">
                <a:solidFill>
                  <a:srgbClr val="FFFFFF"/>
                </a:solidFill>
                <a:latin typeface="Segoe UI"/>
              </a:rPr>
              <a:t>NinaivX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" y="306324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D7ECEA"/>
                </a:solidFill>
                <a:latin typeface="Segoe UI"/>
              </a:rPr>
              <a:t>A Privacy-First, Dual-Mode Voice AI for Bereavement Support &amp; Companionship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539496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Ashwin Kumar Ramesh Kumar</a:t>
            </a:r>
          </a:p>
          <a:p>
            <a:r>
              <a:rPr sz="1400" b="0" i="0">
                <a:solidFill>
                  <a:srgbClr val="CFE6E3"/>
                </a:solidFill>
                <a:latin typeface="Segoe UI"/>
              </a:rPr>
              <a:t>MSc Artificial Intelligence  ·  University of Sheffield</a:t>
            </a:r>
          </a:p>
          <a:p>
            <a:r>
              <a:rPr sz="1400" b="0" i="0">
                <a:solidFill>
                  <a:srgbClr val="CFE6E3"/>
                </a:solidFill>
                <a:latin typeface="Segoe UI"/>
              </a:rPr>
              <a:t>Supervisor: [Supervisor name]   ·   4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A6F6B"/>
                </a:solidFill>
                <a:latin typeface="Segoe UI"/>
              </a:rPr>
              <a:t>The problem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2926080" cy="41148"/>
          </a:xfrm>
          <a:prstGeom prst="rect">
            <a:avLst/>
          </a:prstGeom>
          <a:solidFill>
            <a:srgbClr val="C9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508760"/>
            <a:ext cx="10789920" cy="457200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2000" b="0" i="0">
                <a:solidFill>
                  <a:srgbClr val="444E57"/>
                </a:solidFill>
                <a:latin typeface="Segoe UI"/>
              </a:rPr>
              <a:t>Grief and loneliness are widespread — the WHO links loneliness to ~871,000 deaths a year, affecting about 1 in 6 people.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2000" b="0" i="0">
                <a:solidFill>
                  <a:srgbClr val="444E57"/>
                </a:solidFill>
                <a:latin typeface="Segoe UI"/>
              </a:rPr>
              <a:t>A commercial “digital afterlife industry” now recreates the dead as chatbots.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2000" b="0" i="0">
                <a:solidFill>
                  <a:srgbClr val="444E57"/>
                </a:solidFill>
                <a:latin typeface="Segoe UI"/>
              </a:rPr>
              <a:t>But generative AI fabricates — it produces confident, false detail.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2000" b="0" i="0">
                <a:solidFill>
                  <a:srgbClr val="444E57"/>
                </a:solidFill>
                <a:latin typeface="Segoe UI"/>
              </a:rPr>
              <a:t>A bot that invents memories a real person never had can distort a griever’s memory of them.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7A5"/>
                </a:solidFill>
                <a:latin typeface="Segoe UI"/>
              </a:rPr>
              <a:t>NinaivX  ·  Ashwin Kumar Ramesh Kumar  ·  MSc AI, University of Sheffield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A6F6B"/>
                </a:solidFill>
                <a:latin typeface="Segoe UI"/>
              </a:rPr>
              <a:t>Existing systems leave a gap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2926080" cy="41148"/>
          </a:xfrm>
          <a:prstGeom prst="rect">
            <a:avLst/>
          </a:prstGeom>
          <a:solidFill>
            <a:srgbClr val="C9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508760"/>
            <a:ext cx="10789920" cy="457200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9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444E57"/>
                </a:solidFill>
                <a:latin typeface="Segoe UI"/>
              </a:rPr>
              <a:t>Authentic but static — e.g. HereAfter replays consented recordings; it cannot answer anything new.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9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444E57"/>
                </a:solidFill>
                <a:latin typeface="Segoe UI"/>
              </a:rPr>
              <a:t>Conversational but unconstrained — e.g. Project December, You Only Virtual:</a:t>
            </a:r>
          </a:p>
          <a:p>
            <a:pPr lvl="1">
              <a:spcBef>
                <a:spcPts val="0"/>
              </a:spcBef>
              <a:spcAft>
                <a:spcPts val="900"/>
              </a:spcAft>
            </a:pPr>
            <a:r>
              <a:rPr sz="1700" b="0" i="0">
                <a:solidFill>
                  <a:srgbClr val="C97A1A"/>
                </a:solidFill>
                <a:latin typeface="Segoe UI"/>
              </a:rPr>
              <a:t>      –  </a:t>
            </a:r>
            <a:r>
              <a:rPr sz="1700" b="0" i="0">
                <a:solidFill>
                  <a:srgbClr val="444E57"/>
                </a:solidFill>
                <a:latin typeface="Segoe UI"/>
              </a:rPr>
              <a:t>no safety mechanism against fabrication</a:t>
            </a:r>
          </a:p>
          <a:p>
            <a:pPr lvl="1">
              <a:spcBef>
                <a:spcPts val="0"/>
              </a:spcBef>
              <a:spcAft>
                <a:spcPts val="900"/>
              </a:spcAft>
            </a:pPr>
            <a:r>
              <a:rPr sz="1700" b="0" i="0">
                <a:solidFill>
                  <a:srgbClr val="C97A1A"/>
                </a:solidFill>
                <a:latin typeface="Segoe UI"/>
              </a:rPr>
              <a:t>      –  </a:t>
            </a:r>
            <a:r>
              <a:rPr sz="1700" b="0" i="0">
                <a:solidFill>
                  <a:srgbClr val="444E57"/>
                </a:solidFill>
                <a:latin typeface="Segoe UI"/>
              </a:rPr>
              <a:t>no transparency guarantee</a:t>
            </a:r>
          </a:p>
          <a:p>
            <a:pPr lvl="1">
              <a:spcBef>
                <a:spcPts val="0"/>
              </a:spcBef>
              <a:spcAft>
                <a:spcPts val="900"/>
              </a:spcAft>
            </a:pPr>
            <a:r>
              <a:rPr sz="1700" b="0" i="0">
                <a:solidFill>
                  <a:srgbClr val="C97A1A"/>
                </a:solidFill>
                <a:latin typeface="Segoe UI"/>
              </a:rPr>
              <a:t>      –  </a:t>
            </a:r>
            <a:r>
              <a:rPr sz="1700" b="0" i="0">
                <a:solidFill>
                  <a:srgbClr val="444E57"/>
                </a:solidFill>
                <a:latin typeface="Segoe UI"/>
              </a:rPr>
              <a:t>closed, with no published evaluation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9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444E57"/>
                </a:solidFill>
                <a:latin typeface="Segoe UI"/>
              </a:rPr>
              <a:t>The gap: a system that is generative AND safe, transparent, open, and evaluated.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7A5"/>
                </a:solidFill>
                <a:latin typeface="Segoe UI"/>
              </a:rPr>
              <a:t>NinaivX  ·  Ashwin Kumar Ramesh Kumar  ·  MSc AI, University of Sheffield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A6F6B"/>
                </a:solidFill>
                <a:latin typeface="Segoe UI"/>
              </a:rPr>
              <a:t>Aim &amp; research questions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2926080" cy="41148"/>
          </a:xfrm>
          <a:prstGeom prst="rect">
            <a:avLst/>
          </a:prstGeom>
          <a:solidFill>
            <a:srgbClr val="C9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508760"/>
            <a:ext cx="10789920" cy="457200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sz="20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2000" b="0" i="0">
                <a:solidFill>
                  <a:srgbClr val="444E57"/>
                </a:solidFill>
                <a:latin typeface="Segoe UI"/>
              </a:rPr>
              <a:t>Aim: design, build and evaluate a privacy-first, dual-mode voice AI that is emotionally supportive, factually safer, and privacy-respecting.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3017520"/>
            <a:ext cx="10881360" cy="1234440"/>
          </a:xfrm>
          <a:prstGeom prst="roundRect">
            <a:avLst/>
          </a:prstGeom>
          <a:solidFill>
            <a:srgbClr val="EEF4F3"/>
          </a:solidFill>
          <a:ln w="19050">
            <a:solidFill>
              <a:srgbClr val="2A6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200400"/>
            <a:ext cx="10332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2A6F6B"/>
                </a:solidFill>
                <a:latin typeface="Segoe UI"/>
              </a:rPr>
              <a:t>RQ1  </a:t>
            </a:r>
            <a:r>
              <a:rPr sz="1800" b="0" i="0">
                <a:solidFill>
                  <a:srgbClr val="444E57"/>
                </a:solidFill>
                <a:latin typeface="Segoe UI"/>
              </a:rPr>
              <a:t>Can an air-gapped, grounded design reduce factual fabrication while keeping conversational quality?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4434840"/>
            <a:ext cx="10881360" cy="1234440"/>
          </a:xfrm>
          <a:prstGeom prst="roundRect">
            <a:avLst/>
          </a:prstGeom>
          <a:solidFill>
            <a:srgbClr val="EEF4F3"/>
          </a:solidFill>
          <a:ln w="19050">
            <a:solidFill>
              <a:srgbClr val="2A6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617720"/>
            <a:ext cx="10332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2A6F6B"/>
                </a:solidFill>
                <a:latin typeface="Segoe UI"/>
              </a:rPr>
              <a:t>RQ2  </a:t>
            </a:r>
            <a:r>
              <a:rPr sz="1800" b="0" i="0">
                <a:solidFill>
                  <a:srgbClr val="444E57"/>
                </a:solidFill>
                <a:latin typeface="Segoe UI"/>
              </a:rPr>
              <a:t>Can a single architecture serve both a deceased (Legacy) and a living (Companion) persona?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7A5"/>
                </a:solidFill>
                <a:latin typeface="Segoe UI"/>
              </a:rPr>
              <a:t>NinaivX  ·  Ashwin Kumar Ramesh Kumar  ·  MSc AI, University of Sheffield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A6F6B"/>
                </a:solidFill>
                <a:latin typeface="Segoe UI"/>
              </a:rPr>
              <a:t>Two personas, one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2926080" cy="41148"/>
          </a:xfrm>
          <a:prstGeom prst="rect">
            <a:avLst/>
          </a:prstGeom>
          <a:solidFill>
            <a:srgbClr val="C9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243584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1">
                <a:solidFill>
                  <a:srgbClr val="444E57"/>
                </a:solidFill>
                <a:latin typeface="Segoe UI"/>
              </a:rPr>
              <a:t>Safety by construction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828800"/>
            <a:ext cx="10789920" cy="457200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2000" b="0" i="0">
                <a:solidFill>
                  <a:srgbClr val="444E57"/>
                </a:solidFill>
                <a:latin typeface="Segoe UI"/>
              </a:rPr>
              <a:t>Legacy (deceased): air-gapped, grounded in what the user provides, comfort only.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2000" b="0" i="0">
                <a:solidFill>
                  <a:srgbClr val="444E57"/>
                </a:solidFill>
                <a:latin typeface="Segoe UI"/>
              </a:rPr>
              <a:t>Companion (living, 18+): a web-connected AI friend to ease loneliness.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2000" b="0" i="0">
                <a:solidFill>
                  <a:srgbClr val="444E57"/>
                </a:solidFill>
                <a:latin typeface="Segoe UI"/>
              </a:rPr>
              <a:t>Guiding principle: the most important safety property is a structural guarantee, not a prompt request.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7A5"/>
                </a:solidFill>
                <a:latin typeface="Segoe UI"/>
              </a:rPr>
              <a:t>NinaivX  ·  Ashwin Kumar Ramesh Kumar  ·  MSc AI, University of Sheffield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A6F6B"/>
                </a:solidFill>
                <a:latin typeface="Segoe UI"/>
              </a:rPr>
              <a:t>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2926080" cy="41148"/>
          </a:xfrm>
          <a:prstGeom prst="rect">
            <a:avLst/>
          </a:prstGeom>
          <a:solidFill>
            <a:srgbClr val="C9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gent-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480335"/>
            <a:ext cx="5577840" cy="44459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554480"/>
            <a:ext cx="5669280" cy="457200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8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800" b="0" i="0">
                <a:solidFill>
                  <a:srgbClr val="444E57"/>
                </a:solidFill>
                <a:latin typeface="Segoe UI"/>
              </a:rPr>
              <a:t>A deterministic supervisor routes by the stored persona type — no LLM call, so it can’t be talked out of its decision.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8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800" b="0" i="0">
                <a:solidFill>
                  <a:srgbClr val="444E57"/>
                </a:solidFill>
                <a:latin typeface="Segoe UI"/>
              </a:rPr>
              <a:t>Deceased node: no tools bound — it cannot reach the internet.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8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800" b="0" i="0">
                <a:solidFill>
                  <a:srgbClr val="444E57"/>
                </a:solidFill>
                <a:latin typeface="Segoe UI"/>
              </a:rPr>
              <a:t>Companion node: a web-search tool in a reason–act loop.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7A5"/>
                </a:solidFill>
                <a:latin typeface="Segoe UI"/>
              </a:rPr>
              <a:t>NinaivX  ·  Ashwin Kumar Ramesh Kumar  ·  MSc AI, University of Sheffield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A6F6B"/>
                </a:solidFill>
                <a:latin typeface="Segoe UI"/>
              </a:rPr>
              <a:t>How NinaivX stays safe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2926080" cy="41148"/>
          </a:xfrm>
          <a:prstGeom prst="rect">
            <a:avLst/>
          </a:prstGeom>
          <a:solidFill>
            <a:srgbClr val="C9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554480"/>
            <a:ext cx="7772400" cy="457200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8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800" b="0" i="0">
                <a:solidFill>
                  <a:srgbClr val="444E57"/>
                </a:solidFill>
                <a:latin typeface="Segoe UI"/>
              </a:rPr>
              <a:t>Air-gap = a code-level guarantee — the deceased node has no tools, so fabrication from live data is impossible.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8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800" b="0" i="0">
                <a:solidFill>
                  <a:srgbClr val="444E57"/>
                </a:solidFill>
                <a:latin typeface="Segoe UI"/>
              </a:rPr>
              <a:t>Temporal grounding — the persona knows the world only up to its year of passing.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8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800" b="0" i="0">
                <a:solidFill>
                  <a:srgbClr val="444E57"/>
                </a:solidFill>
                <a:latin typeface="Segoe UI"/>
              </a:rPr>
              <a:t>AI transparency — it discloses it is an AI recreation if asked, and shows a disclosure at the start.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8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800" b="0" i="0">
                <a:solidFill>
                  <a:srgbClr val="444E57"/>
                </a:solidFill>
                <a:latin typeface="Segoe UI"/>
              </a:rPr>
              <a:t>Per-mode content policy · prompt-injection hardening · strict per-user data isolation.</a:t>
            </a:r>
          </a:p>
        </p:txBody>
      </p:sp>
      <p:pic>
        <p:nvPicPr>
          <p:cNvPr id="6" name="Picture 5" descr="app-ch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9201" y="1417320"/>
            <a:ext cx="2004156" cy="4343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49640" y="5779008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1">
                <a:solidFill>
                  <a:srgbClr val="C97A1A"/>
                </a:solidFill>
                <a:latin typeface="Segoe UI"/>
              </a:rPr>
              <a:t>Temporal grounding in action — declines to invent a recent event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7A5"/>
                </a:solidFill>
                <a:latin typeface="Segoe UI"/>
              </a:rPr>
              <a:t>NinaivX  ·  Ashwin Kumar Ramesh Kumar  ·  MSc AI, University of Sheffield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A6F6B"/>
                </a:solidFill>
                <a:latin typeface="Segoe UI"/>
              </a:rPr>
              <a:t>The application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2926080" cy="41148"/>
          </a:xfrm>
          <a:prstGeom prst="rect">
            <a:avLst/>
          </a:prstGeom>
          <a:solidFill>
            <a:srgbClr val="C9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243584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1">
                <a:solidFill>
                  <a:srgbClr val="444E57"/>
                </a:solidFill>
                <a:latin typeface="Segoe UI"/>
              </a:rPr>
              <a:t>React Native / Expo  ·  text + voice  ·  voice cloning</a:t>
            </a:r>
          </a:p>
        </p:txBody>
      </p:sp>
      <p:pic>
        <p:nvPicPr>
          <p:cNvPr id="6" name="Picture 5" descr="app-lan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1595119"/>
            <a:ext cx="1920240" cy="41615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72287" y="5870448"/>
            <a:ext cx="1920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444E57"/>
                </a:solidFill>
                <a:latin typeface="Segoe UI"/>
              </a:rPr>
              <a:t>Landing</a:t>
            </a:r>
          </a:p>
        </p:txBody>
      </p:sp>
      <p:pic>
        <p:nvPicPr>
          <p:cNvPr id="8" name="Picture 7" descr="app-sign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4007" y="1595119"/>
            <a:ext cx="1920240" cy="4161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804007" y="5870448"/>
            <a:ext cx="1920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444E57"/>
                </a:solidFill>
                <a:latin typeface="Segoe UI"/>
              </a:rPr>
              <a:t>Sign-up</a:t>
            </a:r>
          </a:p>
        </p:txBody>
      </p:sp>
      <p:pic>
        <p:nvPicPr>
          <p:cNvPr id="10" name="Picture 9" descr="app-create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35727" y="1595119"/>
            <a:ext cx="1920240" cy="41615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35727" y="5870448"/>
            <a:ext cx="1920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444E57"/>
                </a:solidFill>
                <a:latin typeface="Segoe UI"/>
              </a:rPr>
              <a:t>Create persona</a:t>
            </a:r>
          </a:p>
        </p:txBody>
      </p:sp>
      <p:pic>
        <p:nvPicPr>
          <p:cNvPr id="12" name="Picture 11" descr="app-create-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67447" y="1595119"/>
            <a:ext cx="1920240" cy="416153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467447" y="5870448"/>
            <a:ext cx="1920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444E57"/>
                </a:solidFill>
                <a:latin typeface="Segoe UI"/>
              </a:rPr>
              <a:t>Add a voice</a:t>
            </a:r>
          </a:p>
        </p:txBody>
      </p:sp>
      <p:pic>
        <p:nvPicPr>
          <p:cNvPr id="14" name="Picture 13" descr="app-voic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99167" y="1595119"/>
            <a:ext cx="1920240" cy="416153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799167" y="5870448"/>
            <a:ext cx="1920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444E57"/>
                </a:solidFill>
                <a:latin typeface="Segoe UI"/>
              </a:rPr>
              <a:t>Voice call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7A5"/>
                </a:solidFill>
                <a:latin typeface="Segoe UI"/>
              </a:rPr>
              <a:t>NinaivX  ·  Ashwin Kumar Ramesh Kumar  ·  MSc AI, University of Sheffield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A6F6B"/>
                </a:solidFill>
                <a:latin typeface="Segoe UI"/>
              </a:rPr>
              <a:t>Evaluation 1 — user study (n = 21)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2926080" cy="41148"/>
          </a:xfrm>
          <a:prstGeom prst="rect">
            <a:avLst/>
          </a:prstGeom>
          <a:solidFill>
            <a:srgbClr val="C9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NinaivX-Results-Like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966979"/>
            <a:ext cx="5852160" cy="356412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554480"/>
            <a:ext cx="5486400" cy="457200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7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700" b="0" i="0">
                <a:solidFill>
                  <a:srgbClr val="444E57"/>
                </a:solidFill>
                <a:latin typeface="Segoe UI"/>
              </a:rPr>
              <a:t>Ethics-approved, remote, anonymous, adults only.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7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700" b="0" i="0">
                <a:solidFill>
                  <a:srgbClr val="444E57"/>
                </a:solidFill>
                <a:latin typeface="Segoe UI"/>
              </a:rPr>
              <a:t>Overall mean 4.6 / 5 — everyone found it easy to use, comfortable, and satisfying.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7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700" b="0" i="0">
                <a:solidFill>
                  <a:srgbClr val="444E57"/>
                </a:solidFill>
                <a:latin typeface="Segoe UI"/>
              </a:rPr>
              <a:t>Safety perceived well: 90% trusted it not to “make things up.”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7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700" b="0" i="0">
                <a:solidFill>
                  <a:srgbClr val="444E57"/>
                </a:solidFill>
                <a:latin typeface="Segoe UI"/>
              </a:rPr>
              <a:t>Weakest point: voice naturalness (mean 4.0) — the clear target to improve.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7A5"/>
                </a:solidFill>
                <a:latin typeface="Segoe UI"/>
              </a:rPr>
              <a:t>NinaivX  ·  Ashwin Kumar Ramesh Kumar  ·  MSc AI, University of Sheffield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A6F6B"/>
                </a:solidFill>
                <a:latin typeface="Segoe UI"/>
              </a:rPr>
              <a:t>Evaluation 2 — controlled fabrication test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2926080" cy="41148"/>
          </a:xfrm>
          <a:prstGeom prst="rect">
            <a:avLst/>
          </a:prstGeom>
          <a:solidFill>
            <a:srgbClr val="C9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NinaivX-Fabri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85044"/>
            <a:ext cx="6126480" cy="341943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1600200"/>
            <a:ext cx="4937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444E57"/>
                </a:solidFill>
                <a:latin typeface="Segoe UI"/>
              </a:rPr>
              <a:t>Same model — only the grounding changed: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0" y="2240280"/>
            <a:ext cx="4846320" cy="1234440"/>
          </a:xfrm>
          <a:prstGeom prst="roundRect">
            <a:avLst/>
          </a:prstGeom>
          <a:solidFill>
            <a:srgbClr val="EEF4F3"/>
          </a:solidFill>
          <a:ln w="19050">
            <a:solidFill>
              <a:srgbClr val="1B78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0" y="2404872"/>
            <a:ext cx="46634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1B7837"/>
                </a:solidFill>
                <a:latin typeface="Segoe UI"/>
              </a:rPr>
              <a:t>83%  →  28%</a:t>
            </a:r>
          </a:p>
          <a:p>
            <a:pPr algn="ctr"/>
            <a:r>
              <a:rPr sz="1250" b="0" i="0">
                <a:solidFill>
                  <a:srgbClr val="444E57"/>
                </a:solidFill>
                <a:latin typeface="Segoe UI"/>
              </a:rPr>
              <a:t>overall fabrication rate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0" y="3657600"/>
            <a:ext cx="4846320" cy="1234440"/>
          </a:xfrm>
          <a:prstGeom prst="roundRect">
            <a:avLst/>
          </a:prstGeom>
          <a:solidFill>
            <a:srgbClr val="EEF4F3"/>
          </a:solidFill>
          <a:ln w="19050">
            <a:solidFill>
              <a:srgbClr val="1B78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0" y="3822191"/>
            <a:ext cx="46634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1B7837"/>
                </a:solidFill>
                <a:latin typeface="Segoe UI"/>
              </a:rPr>
              <a:t>100%  →  ~0%</a:t>
            </a:r>
          </a:p>
          <a:p>
            <a:pPr algn="ctr"/>
            <a:r>
              <a:rPr sz="1250" b="0" i="0">
                <a:solidFill>
                  <a:srgbClr val="444E57"/>
                </a:solidFill>
                <a:latin typeface="Segoe UI"/>
              </a:rPr>
              <a:t>fabrication about events after death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5074920"/>
            <a:ext cx="4937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44E57"/>
                </a:solidFill>
                <a:latin typeface="Segoe UI"/>
              </a:rPr>
              <a:t>Prompt grounding doesn’t fully stop invented personal facts — which motivates retrieval (RAG).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7A5"/>
                </a:solidFill>
                <a:latin typeface="Segoe UI"/>
              </a:rPr>
              <a:t>NinaivX  ·  Ashwin Kumar Ramesh Kumar  ·  MSc AI, University of Sheffield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A6F6B"/>
                </a:solidFill>
                <a:latin typeface="Segoe UI"/>
              </a:rPr>
              <a:t>Answering the research questions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2926080" cy="41148"/>
          </a:xfrm>
          <a:prstGeom prst="rect">
            <a:avLst/>
          </a:prstGeom>
          <a:solidFill>
            <a:srgbClr val="C9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508760"/>
            <a:ext cx="10789920" cy="457200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9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444E57"/>
                </a:solidFill>
                <a:latin typeface="Segoe UI"/>
              </a:rPr>
              <a:t>RQ1 ✓  The design measurably reduces fabrication (83% → 28%) and keeps conversational quality (mean 4.6).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9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444E57"/>
                </a:solidFill>
                <a:latin typeface="Segoe UI"/>
              </a:rPr>
              <a:t>RQ2 ✓  One architecture serves both personas; 90% of users always knew they were talking to an AI.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9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444E57"/>
                </a:solidFill>
                <a:latin typeface="Segoe UI"/>
              </a:rPr>
              <a:t>Honest limitation: personal-fact confabulation remains — addressed by document-grounded retrieval (future work).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7A5"/>
                </a:solidFill>
                <a:latin typeface="Segoe UI"/>
              </a:rPr>
              <a:t>NinaivX  ·  Ashwin Kumar Ramesh Kumar  ·  MSc AI, University of Sheffield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A6F6B"/>
                </a:solidFill>
                <a:latin typeface="Segoe UI"/>
              </a:rPr>
              <a:t>Limitations &amp; future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2926080" cy="41148"/>
          </a:xfrm>
          <a:prstGeom prst="rect">
            <a:avLst/>
          </a:prstGeom>
          <a:solidFill>
            <a:srgbClr val="C9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508760"/>
            <a:ext cx="10789920" cy="457200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9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444E57"/>
                </a:solidFill>
                <a:latin typeface="Segoe UI"/>
              </a:rPr>
              <a:t>Small (n = 21), self-selected sample; measures perceptions, not long-term wellbeing.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9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444E57"/>
                </a:solidFill>
                <a:latin typeface="Segoe UI"/>
              </a:rPr>
              <a:t>By ethical design, no genuinely bereaved users took part.</a:t>
            </a:r>
          </a:p>
          <a:p>
            <a:pPr lvl="1"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C97A1A"/>
                </a:solidFill>
                <a:latin typeface="Segoe UI"/>
              </a:rPr>
              <a:t>      –  </a:t>
            </a:r>
            <a:r>
              <a:rPr sz="1700" b="0" i="0">
                <a:solidFill>
                  <a:srgbClr val="444E57"/>
                </a:solidFill>
                <a:latin typeface="Segoe UI"/>
              </a:rPr>
              <a:t/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9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444E57"/>
                </a:solidFill>
                <a:latin typeface="Segoe UI"/>
              </a:rPr>
              <a:t>Future: improve voice naturalness (users’ top request).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9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444E57"/>
                </a:solidFill>
                <a:latin typeface="Segoe UI"/>
              </a:rPr>
              <a:t>Future: document-grounded retrieval (RAG) to fix personal-fact confabulation.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9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444E57"/>
                </a:solidFill>
                <a:latin typeface="Segoe UI"/>
              </a:rPr>
              <a:t>Future: a larger, longitudinal study.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7A5"/>
                </a:solidFill>
                <a:latin typeface="Segoe UI"/>
              </a:rPr>
              <a:t>NinaivX  ·  Ashwin Kumar Ramesh Kumar  ·  MSc AI, University of Sheffield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A6F6B"/>
                </a:solidFill>
                <a:latin typeface="Segoe UI"/>
              </a:rPr>
              <a:t>Conclusion &amp; contributions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2926080" cy="41148"/>
          </a:xfrm>
          <a:prstGeom prst="rect">
            <a:avLst/>
          </a:prstGeom>
          <a:solidFill>
            <a:srgbClr val="C9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508760"/>
            <a:ext cx="10789920" cy="457200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9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444E57"/>
                </a:solidFill>
                <a:latin typeface="Segoe UI"/>
              </a:rPr>
              <a:t>A dual-mode, safety-by-construction griefbot: generative, yet grounded, transparent, open, and evaluated.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9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444E57"/>
                </a:solidFill>
                <a:latin typeface="Segoe UI"/>
              </a:rPr>
              <a:t>Contributions: the air-gap as a structural guarantee; temporal grounding; and an openly evaluated safety design.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9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444E57"/>
                </a:solidFill>
                <a:latin typeface="Segoe UI"/>
              </a:rPr>
              <a:t>“If such systems are to be built, they need not be the opaque, unconstrained products on the market today.”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7A5"/>
                </a:solidFill>
                <a:latin typeface="Segoe UI"/>
              </a:rPr>
              <a:t>NinaivX  ·  Ashwin Kumar Ramesh Kumar  ·  MSc AI, University of Sheffield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327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Segoe UI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356616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D7ECEA"/>
                </a:solidFill>
                <a:latin typeface="Segoe UI"/>
              </a:rPr>
              <a:t>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" y="512064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CFE6E3"/>
                </a:solidFill>
                <a:latin typeface="Segoe UI"/>
              </a:rPr>
              <a:t>NinaivX  ·  Ashwin Kumar Ramesh Kumar  ·  MSc Artificial Intelligence, University of Sheffield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